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03366"/>
                </a:solidFill>
                <a:latin typeface="Arial"/>
              </a:rPr>
              <a:t>Investor Report</a:t>
            </a:r>
          </a:p>
        </p:txBody>
      </p:sp>
      <p:sp>
        <p:nvSpPr>
          <p:cNvPr id="3" name="ReportDate"/>
          <p:cNvSpPr txBox="1"/>
          <p:nvPr/>
        </p:nvSpPr>
        <p:spPr>
          <a:xfrm>
            <a:off x="457200" y="3474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666666"/>
                </a:solidFill>
                <a:latin typeface="Arial"/>
              </a:rPr>
              <a:t>Q4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Title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Arial"/>
              </a:rPr>
              <a:t>Key Performance Metrics</a:t>
            </a:r>
          </a:p>
        </p:txBody>
      </p:sp>
      <p:sp>
        <p:nvSpPr>
          <p:cNvPr id="3" name="RevenueBox"/>
          <p:cNvSpPr/>
          <p:nvPr/>
        </p:nvSpPr>
        <p:spPr>
          <a:xfrm>
            <a:off x="457200" y="1097280"/>
            <a:ext cx="2743200" cy="1371600"/>
          </a:xfrm>
          <a:prstGeom prst="roundRect">
            <a:avLst/>
          </a:prstGeom>
          <a:solidFill>
            <a:srgbClr val="006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  <a:latin typeface="Arial"/>
              </a:rPr>
              <a:t>Revenue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$5,000,000</a:t>
            </a:r>
          </a:p>
        </p:txBody>
      </p:sp>
      <p:sp>
        <p:nvSpPr>
          <p:cNvPr id="4" name="RevenueValue"/>
          <p:cNvSpPr txBox="1"/>
          <p:nvPr/>
        </p:nvSpPr>
        <p:spPr>
          <a:xfrm>
            <a:off x="45720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6699"/>
                </a:solidFill>
                <a:latin typeface="Arial"/>
              </a:rPr>
              <a:t>$5,000,000</a:t>
            </a:r>
          </a:p>
        </p:txBody>
      </p:sp>
      <p:sp>
        <p:nvSpPr>
          <p:cNvPr id="5" name="GrowthRate"/>
          <p:cNvSpPr txBox="1"/>
          <p:nvPr/>
        </p:nvSpPr>
        <p:spPr>
          <a:xfrm>
            <a:off x="3657600" y="10972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  <a:latin typeface="Arial"/>
              </a:rPr>
              <a:t>Growth Rate</a:t>
            </a:r>
          </a:p>
          <a:p>
            <a:pPr algn="ctr"/>
            <a:r>
              <a:rPr sz="2800" b="1">
                <a:solidFill>
                  <a:srgbClr val="009933"/>
                </a:solidFill>
                <a:latin typeface="Arial"/>
              </a:rPr>
              <a:t>25.5%</a:t>
            </a:r>
          </a:p>
        </p:txBody>
      </p:sp>
      <p:sp>
        <p:nvSpPr>
          <p:cNvPr id="6" name="GrowthValue"/>
          <p:cNvSpPr txBox="1"/>
          <p:nvPr/>
        </p:nvSpPr>
        <p:spPr>
          <a:xfrm>
            <a:off x="365760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9933"/>
                </a:solidFill>
                <a:latin typeface="Arial"/>
              </a:rPr>
              <a:t>25.5%</a:t>
            </a:r>
          </a:p>
        </p:txBody>
      </p:sp>
      <p:sp>
        <p:nvSpPr>
          <p:cNvPr id="7" name="CustomerCount"/>
          <p:cNvSpPr txBox="1"/>
          <p:nvPr/>
        </p:nvSpPr>
        <p:spPr>
          <a:xfrm>
            <a:off x="6858000" y="10972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  <a:latin typeface="Arial"/>
              </a:rPr>
              <a:t>Active Customers</a:t>
            </a:r>
          </a:p>
          <a:p>
            <a:pPr algn="ctr"/>
            <a:r>
              <a:rPr sz="2800" b="1">
                <a:solidFill>
                  <a:srgbClr val="003366"/>
                </a:solidFill>
                <a:latin typeface="Arial"/>
              </a:rPr>
              <a:t>1,250</a:t>
            </a:r>
          </a:p>
        </p:txBody>
      </p:sp>
      <p:sp>
        <p:nvSpPr>
          <p:cNvPr id="8" name="CustomerValue"/>
          <p:cNvSpPr txBox="1"/>
          <p:nvPr/>
        </p:nvSpPr>
        <p:spPr>
          <a:xfrm>
            <a:off x="685800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  <a:latin typeface="Arial"/>
              </a:rPr>
              <a:t>1,250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inancialTitle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Arial"/>
              </a:rPr>
              <a:t>Financial Summary</a:t>
            </a:r>
          </a:p>
        </p:txBody>
      </p:sp>
      <p:graphicFrame>
        <p:nvGraphicFramePr>
          <p:cNvPr id="3" name="FinancialTable"/>
          <p:cNvGraphicFramePr>
            <a:graphicFrameLocks noGrp="1"/>
          </p:cNvGraphicFramePr>
          <p:nvPr/>
        </p:nvGraphicFramePr>
        <p:xfrm>
          <a:off x="457200" y="1097280"/>
          <a:ext cx="914308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33295"/>
                <a:gridCol w="2133295"/>
                <a:gridCol w="2133295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Q2 2024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Q3 2024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Q4 2024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$4,200,000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$4,600,000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$5,000,000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$2,800,000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$3,000,000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$3,200,000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Net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$1,400,000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$1,800,000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$1,800,000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$2,200,000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PITitle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Arial"/>
              </a:rPr>
              <a:t>Key Performance Indicators</a:t>
            </a:r>
          </a:p>
        </p:txBody>
      </p:sp>
      <p:graphicFrame>
        <p:nvGraphicFramePr>
          <p:cNvPr id="3" name="KPITable"/>
          <p:cNvGraphicFramePr>
            <a:graphicFrameLocks noGrp="1"/>
          </p:cNvGraphicFramePr>
          <p:nvPr/>
        </p:nvGraphicFramePr>
        <p:xfrm>
          <a:off x="457200" y="109728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Customer Acquisition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$150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$125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Customer Lifetime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$2,500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$3,000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Churn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4.0%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Net Promoter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Monthly Active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50,000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mmaryTitle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  <a:latin typeface="Arial"/>
              </a:rPr>
              <a:t>Executive Summary</a:t>
            </a:r>
          </a:p>
        </p:txBody>
      </p:sp>
      <p:sp>
        <p:nvSpPr>
          <p:cNvPr id="3" name="ReportPeriod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Arial"/>
              </a:rPr>
              <a:t>Reporting Period: Q4 2024</a:t>
            </a:r>
          </a:p>
        </p:txBody>
      </p:sp>
      <p:sp>
        <p:nvSpPr>
          <p:cNvPr id="4" name="TotalRevenue"/>
          <p:cNvSpPr txBox="1"/>
          <p:nvPr/>
        </p:nvSpPr>
        <p:spPr>
          <a:xfrm>
            <a:off x="457200" y="1828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Arial"/>
              </a:rPr>
              <a:t>Total Revenue: $5,000,000</a:t>
            </a:r>
          </a:p>
        </p:txBody>
      </p:sp>
      <p:sp>
        <p:nvSpPr>
          <p:cNvPr id="5" name="YoYGrowth"/>
          <p:cNvSpPr txBox="1"/>
          <p:nvPr/>
        </p:nvSpPr>
        <p:spPr>
          <a:xfrm>
            <a:off x="457200" y="25603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9933"/>
                </a:solidFill>
                <a:latin typeface="Arial"/>
              </a:rPr>
              <a:t>Year-over-Year Growth: 25.5%</a:t>
            </a:r>
          </a:p>
        </p:txBody>
      </p:sp>
      <p:sp>
        <p:nvSpPr>
          <p:cNvPr id="6" name="CustomerSummary"/>
          <p:cNvSpPr txBox="1"/>
          <p:nvPr/>
        </p:nvSpPr>
        <p:spPr>
          <a:xfrm>
            <a:off x="457200" y="329184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Arial"/>
              </a:rPr>
              <a:t>Total Customers: 1,250</a:t>
            </a:r>
          </a:p>
        </p:txBody>
      </p:sp>
      <p:sp>
        <p:nvSpPr>
          <p:cNvPr id="7" name="InceptionDate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rial"/>
              </a:rPr>
              <a:t>Fund Inception: April 1, 2021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